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4" r:id="rId3"/>
    <p:sldId id="258" r:id="rId4"/>
    <p:sldId id="260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59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4">
            <a:extLst>
              <a:ext uri="{FF2B5EF4-FFF2-40B4-BE49-F238E27FC236}">
                <a16:creationId xmlns:a16="http://schemas.microsoft.com/office/drawing/2014/main" id="{3D12862C-8CF7-171F-9C5E-07470B3BAA05}"/>
              </a:ext>
            </a:extLst>
          </p:cNvPr>
          <p:cNvCxnSpPr/>
          <p:nvPr/>
        </p:nvCxnSpPr>
        <p:spPr>
          <a:xfrm>
            <a:off x="2417763" y="3529013"/>
            <a:ext cx="863758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/>
          <a:lstStyle>
            <a:lvl1pPr algn="l">
              <a:defRPr sz="6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D245927-995B-1B88-D352-461083D5A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E8F2E-BCA6-4818-BDDF-5FD2635EDD27}" type="datetimeFigureOut">
              <a:rPr lang="ru-RU"/>
              <a:pPr>
                <a:defRPr/>
              </a:pPr>
              <a:t>11.04.2026</a:t>
            </a:fld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AA22C6D-17E3-2EC2-47A7-71E2F8135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6175" y="328613"/>
            <a:ext cx="4973638" cy="30956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ED1F34C-5F4C-0320-9DF8-F5EC26DF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8275" y="798513"/>
            <a:ext cx="809625" cy="5048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B0E480-97FD-4C05-A2C6-9A9C1C9F49D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945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2">
            <a:extLst>
              <a:ext uri="{FF2B5EF4-FFF2-40B4-BE49-F238E27FC236}">
                <a16:creationId xmlns:a16="http://schemas.microsoft.com/office/drawing/2014/main" id="{E8F22DD7-2E4B-6BB5-3A23-052C0DE58083}"/>
              </a:ext>
            </a:extLst>
          </p:cNvPr>
          <p:cNvCxnSpPr/>
          <p:nvPr/>
        </p:nvCxnSpPr>
        <p:spPr>
          <a:xfrm>
            <a:off x="1454150" y="1847850"/>
            <a:ext cx="960755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D4E68BE-EB36-FC33-6B03-9DEC22E84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DA3110-9E2C-4FD2-8132-13F93D191D9B}" type="datetimeFigureOut">
              <a:rPr lang="ru-RU"/>
              <a:pPr>
                <a:defRPr/>
              </a:pPr>
              <a:t>11.04.2026</a:t>
            </a:fld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6E61313-257F-0AA4-5DBF-7DCDA99B9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A9CBB27-833A-8CC8-1AF6-669C860B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61A0D-23B6-44EC-8D9F-8746C19A10A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5330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4">
            <a:extLst>
              <a:ext uri="{FF2B5EF4-FFF2-40B4-BE49-F238E27FC236}">
                <a16:creationId xmlns:a16="http://schemas.microsoft.com/office/drawing/2014/main" id="{275A57D3-232A-3D98-1B14-3FF322108027}"/>
              </a:ext>
            </a:extLst>
          </p:cNvPr>
          <p:cNvCxnSpPr/>
          <p:nvPr/>
        </p:nvCxnSpPr>
        <p:spPr>
          <a:xfrm>
            <a:off x="1454150" y="3805238"/>
            <a:ext cx="863123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/>
          <a:lstStyle>
            <a:lvl1pPr algn="l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77CF572-54E1-1F7A-84CC-B295BE220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1EEAE3-3FFC-4402-B3DC-683589A0C6DF}" type="datetimeFigureOut">
              <a:rPr lang="ru-RU"/>
              <a:pPr>
                <a:defRPr/>
              </a:pPr>
              <a:t>11.04.2026</a:t>
            </a:fld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25C740F-4C6E-6E00-FD54-577A34C5A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0946A89-C7B3-86E4-4903-426EEA848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48883B-6D40-4598-8A02-443C58BEEFD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8954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34">
            <a:extLst>
              <a:ext uri="{FF2B5EF4-FFF2-40B4-BE49-F238E27FC236}">
                <a16:creationId xmlns:a16="http://schemas.microsoft.com/office/drawing/2014/main" id="{C9FE3FED-8795-5DA6-F971-EAC66A4ABF8B}"/>
              </a:ext>
            </a:extLst>
          </p:cNvPr>
          <p:cNvCxnSpPr/>
          <p:nvPr/>
        </p:nvCxnSpPr>
        <p:spPr>
          <a:xfrm>
            <a:off x="1454150" y="1847850"/>
            <a:ext cx="960755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FE865312-2B6F-C117-15D9-A30167FD8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48E006-CE1E-4696-9941-76119FDDEEF4}" type="datetimeFigureOut">
              <a:rPr lang="ru-RU"/>
              <a:pPr>
                <a:defRPr/>
              </a:pPr>
              <a:t>11.04.2026</a:t>
            </a:fld>
            <a:endParaRPr lang="ru-RU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60ECC8FC-3BEA-ECC8-30D0-ED985CF3B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48B044A2-E5F9-E4F2-4C91-EF891A0BE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344A93-E8C3-471B-94A2-16A5E042AE6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940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28">
            <a:extLst>
              <a:ext uri="{FF2B5EF4-FFF2-40B4-BE49-F238E27FC236}">
                <a16:creationId xmlns:a16="http://schemas.microsoft.com/office/drawing/2014/main" id="{521DF2BB-DCB9-76D3-3CDB-A20E421B734C}"/>
              </a:ext>
            </a:extLst>
          </p:cNvPr>
          <p:cNvCxnSpPr/>
          <p:nvPr/>
        </p:nvCxnSpPr>
        <p:spPr>
          <a:xfrm>
            <a:off x="1454150" y="1847850"/>
            <a:ext cx="960755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65818246-4259-C0A6-F95D-58C4B0E10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0FEC43-EC58-4B31-8FE4-47BD2B3448F2}" type="datetimeFigureOut">
              <a:rPr lang="ru-RU"/>
              <a:pPr>
                <a:defRPr/>
              </a:pPr>
              <a:t>11.04.2026</a:t>
            </a:fld>
            <a:endParaRPr lang="ru-RU"/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0357D35C-4639-1C31-9963-908885498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C5FAFB55-43DD-649F-F3E6-892E20795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E67250-74BE-46A4-B2A8-4E96D34FF2B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4529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4">
            <a:extLst>
              <a:ext uri="{FF2B5EF4-FFF2-40B4-BE49-F238E27FC236}">
                <a16:creationId xmlns:a16="http://schemas.microsoft.com/office/drawing/2014/main" id="{568EB698-2446-C756-90F0-8BD0EE7C8DB1}"/>
              </a:ext>
            </a:extLst>
          </p:cNvPr>
          <p:cNvCxnSpPr/>
          <p:nvPr/>
        </p:nvCxnSpPr>
        <p:spPr>
          <a:xfrm>
            <a:off x="1454150" y="1847850"/>
            <a:ext cx="960755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0A63D62-2A44-122F-02C5-A04DA6E61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BCFFDE-9994-49DC-84B0-8701A4FE8A06}" type="datetimeFigureOut">
              <a:rPr lang="ru-RU"/>
              <a:pPr>
                <a:defRPr/>
              </a:pPr>
              <a:t>11.04.2026</a:t>
            </a:fld>
            <a:endParaRPr lang="ru-RU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F201594-F031-7EAC-6B8A-D2EC11DFF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F0DBD49B-2AAF-CB8E-571F-EBB744D47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823312-E307-4990-86F3-B58E97EFA6C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859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0E88AE6-7003-CD18-7079-B58DA6E41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5D28F1-8CD2-4B58-9210-07E7E0287A25}" type="datetimeFigureOut">
              <a:rPr lang="ru-RU"/>
              <a:pPr>
                <a:defRPr/>
              </a:pPr>
              <a:t>11.04.2026</a:t>
            </a:fld>
            <a:endParaRPr lang="ru-R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F462C61-35FF-41BA-4776-BE3AA7550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14BBFA4-985C-ED4E-4E23-BCB974DD3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9AAB15-A0F5-482D-B7C8-9EC5247FE71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2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16">
            <a:extLst>
              <a:ext uri="{FF2B5EF4-FFF2-40B4-BE49-F238E27FC236}">
                <a16:creationId xmlns:a16="http://schemas.microsoft.com/office/drawing/2014/main" id="{CEC305B1-339B-CD26-D351-26A9F28A9B36}"/>
              </a:ext>
            </a:extLst>
          </p:cNvPr>
          <p:cNvCxnSpPr/>
          <p:nvPr/>
        </p:nvCxnSpPr>
        <p:spPr>
          <a:xfrm>
            <a:off x="1447800" y="3205163"/>
            <a:ext cx="327025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46FA8DFB-2C4A-F51C-58BA-FA07BAEF4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2B04B-B90B-451C-BD48-664B4BD8AC15}" type="datetimeFigureOut">
              <a:rPr lang="ru-RU"/>
              <a:pPr>
                <a:defRPr/>
              </a:pPr>
              <a:t>11.04.2026</a:t>
            </a:fld>
            <a:endParaRPr lang="ru-RU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4191EDEA-92A4-3241-F604-1363D60E3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59B848BF-5B60-19B9-8204-298B8A023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549E26-0479-4211-8DF1-C42DFAA419F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357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>
            <a:extLst>
              <a:ext uri="{FF2B5EF4-FFF2-40B4-BE49-F238E27FC236}">
                <a16:creationId xmlns:a16="http://schemas.microsoft.com/office/drawing/2014/main" id="{40DCEB5B-9680-F0EC-3F05-10E0C0B47FFB}"/>
              </a:ext>
            </a:extLst>
          </p:cNvPr>
          <p:cNvGrpSpPr>
            <a:grpSpLocks/>
          </p:cNvGrpSpPr>
          <p:nvPr/>
        </p:nvGrpSpPr>
        <p:grpSpPr bwMode="auto">
          <a:xfrm>
            <a:off x="7477125" y="482600"/>
            <a:ext cx="4075113" cy="5148263"/>
            <a:chOff x="7477387" y="482170"/>
            <a:chExt cx="4074533" cy="5149101"/>
          </a:xfrm>
        </p:grpSpPr>
        <p:sp>
          <p:nvSpPr>
            <p:cNvPr id="6" name="Rectangle 17">
              <a:extLst>
                <a:ext uri="{FF2B5EF4-FFF2-40B4-BE49-F238E27FC236}">
                  <a16:creationId xmlns:a16="http://schemas.microsoft.com/office/drawing/2014/main" id="{84637A3B-B40D-EE2F-A928-2F49F621BBDA}"/>
                </a:ext>
              </a:extLst>
            </p:cNvPr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18">
              <a:extLst>
                <a:ext uri="{FF2B5EF4-FFF2-40B4-BE49-F238E27FC236}">
                  <a16:creationId xmlns:a16="http://schemas.microsoft.com/office/drawing/2014/main" id="{EAC2C768-6448-D030-0D8F-8133B435827A}"/>
                </a:ext>
              </a:extLst>
            </p:cNvPr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cxnSp>
        <p:nvCxnSpPr>
          <p:cNvPr id="8" name="Straight Connector 30">
            <a:extLst>
              <a:ext uri="{FF2B5EF4-FFF2-40B4-BE49-F238E27FC236}">
                <a16:creationId xmlns:a16="http://schemas.microsoft.com/office/drawing/2014/main" id="{DAFA383E-0C4A-0D5B-5642-E184DDCBBD4D}"/>
              </a:ext>
            </a:extLst>
          </p:cNvPr>
          <p:cNvCxnSpPr/>
          <p:nvPr/>
        </p:nvCxnSpPr>
        <p:spPr>
          <a:xfrm>
            <a:off x="1447800" y="3143250"/>
            <a:ext cx="552767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rtlCol="0">
            <a:norm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464E567C-630E-8CDE-43FF-639EA5A8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7800" y="5470525"/>
            <a:ext cx="5527675" cy="319088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0C975D3-72A3-425E-983E-0A1763E05834}" type="datetimeFigureOut">
              <a:rPr lang="ru-RU"/>
              <a:pPr>
                <a:defRPr/>
              </a:pPr>
              <a:t>11.04.2026</a:t>
            </a:fld>
            <a:endParaRPr lang="ru-RU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A57B8EC3-D550-EBEC-A490-CAA022C0D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7800" y="319088"/>
            <a:ext cx="5540375" cy="3206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F4BE9A54-F8A5-8F32-256E-481419919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14E6AC-801F-4CE6-8CB9-1A140FB3DF6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1758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25">
            <a:extLst>
              <a:ext uri="{FF2B5EF4-FFF2-40B4-BE49-F238E27FC236}">
                <a16:creationId xmlns:a16="http://schemas.microsoft.com/office/drawing/2014/main" id="{36544B9B-5699-0438-88A1-238E1CA1CB15}"/>
              </a:ext>
            </a:extLst>
          </p:cNvPr>
          <p:cNvCxnSpPr/>
          <p:nvPr/>
        </p:nvCxnSpPr>
        <p:spPr>
          <a:xfrm>
            <a:off x="1454150" y="1847850"/>
            <a:ext cx="960755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7863169-8F42-DE9F-E6E6-963742348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AD87F1-B611-4583-8162-C6F9E401EF63}" type="datetimeFigureOut">
              <a:rPr lang="ru-RU"/>
              <a:pPr>
                <a:defRPr/>
              </a:pPr>
              <a:t>11.04.2026</a:t>
            </a:fld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C393657-4A0A-BE64-6DEF-91D8121A0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E7F308-37BD-F0C8-344F-BBFCA81BC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BAFFD7-72E2-476C-88EE-55EA9B20FC2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8038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4">
            <a:extLst>
              <a:ext uri="{FF2B5EF4-FFF2-40B4-BE49-F238E27FC236}">
                <a16:creationId xmlns:a16="http://schemas.microsoft.com/office/drawing/2014/main" id="{F68C2FB2-C954-840A-AEA9-1AE59DDD05EB}"/>
              </a:ext>
            </a:extLst>
          </p:cNvPr>
          <p:cNvCxnSpPr/>
          <p:nvPr/>
        </p:nvCxnSpPr>
        <p:spPr>
          <a:xfrm>
            <a:off x="9439275" y="798513"/>
            <a:ext cx="0" cy="466090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1A6F85C-2D24-6B7A-5050-A7479CF86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2C1592-E49C-4B82-A173-02398F0D448C}" type="datetimeFigureOut">
              <a:rPr lang="ru-RU"/>
              <a:pPr>
                <a:defRPr/>
              </a:pPr>
              <a:t>11.04.2026</a:t>
            </a:fld>
            <a:endParaRPr lang="ru-R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3C3C87C-B2CD-7BFC-F02B-40D05B954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3B365D6-0B9B-ED87-60D6-09F7ED980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B416AC-A7E8-4618-BEB0-BA98EE74AE4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9445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7DEAF37-31D1-6174-F5CE-3E1C05C85484}"/>
              </a:ext>
            </a:extLst>
          </p:cNvPr>
          <p:cNvSpPr/>
          <p:nvPr/>
        </p:nvSpPr>
        <p:spPr>
          <a:xfrm>
            <a:off x="0" y="2019300"/>
            <a:ext cx="12192000" cy="4106863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27" name="Picture 6">
            <a:extLst>
              <a:ext uri="{FF2B5EF4-FFF2-40B4-BE49-F238E27FC236}">
                <a16:creationId xmlns:a16="http://schemas.microsoft.com/office/drawing/2014/main" id="{687DBEF1-CFBA-D62E-13D0-F7E04AA9E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>
            <a:fillRect/>
          </a:stretch>
        </p:blipFill>
        <p:spPr bwMode="black">
          <a:xfrm>
            <a:off x="0" y="6126163"/>
            <a:ext cx="1219200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6C7A44-7F76-C6FE-DA33-EC7208F77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975" y="804863"/>
            <a:ext cx="9604375" cy="10493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29" name="Text Placeholder 2">
            <a:extLst>
              <a:ext uri="{FF2B5EF4-FFF2-40B4-BE49-F238E27FC236}">
                <a16:creationId xmlns:a16="http://schemas.microsoft.com/office/drawing/2014/main" id="{B1B95B2C-F5A6-DE79-F6C5-C720406022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50975" y="2016125"/>
            <a:ext cx="9604375" cy="344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  <a:endParaRPr lang="en-US" alt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2A809-E2A3-1CAD-E039-BBEC9EC2F9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54913" y="330200"/>
            <a:ext cx="3500437" cy="309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77EFCC47-6844-43D4-A311-45027BF24620}" type="datetimeFigureOut">
              <a:rPr lang="ru-RU"/>
              <a:pPr>
                <a:defRPr/>
              </a:pPr>
              <a:t>11.04.2026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201D9-37F0-64E6-B0E3-7B87F1DD51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0975" y="328613"/>
            <a:ext cx="5938838" cy="309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9FE85-0975-137F-6D40-23E8B5EC6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9425" y="798513"/>
            <a:ext cx="811213" cy="5048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2800">
                <a:solidFill>
                  <a:schemeClr val="accent1"/>
                </a:solidFill>
                <a:latin typeface="+mn-lt"/>
              </a:defRPr>
            </a:lvl1pPr>
          </a:lstStyle>
          <a:p>
            <a:pPr>
              <a:defRPr/>
            </a:pPr>
            <a:fld id="{411840C4-9453-40C8-B1E2-4E69EF99587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63486E-1791-1B08-D80A-BEFD0DA7BCE2}"/>
              </a:ext>
            </a:extLst>
          </p:cNvPr>
          <p:cNvCxnSpPr/>
          <p:nvPr/>
        </p:nvCxnSpPr>
        <p:spPr>
          <a:xfrm>
            <a:off x="0" y="6127750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2" r:id="rId7"/>
    <p:sldLayoutId id="2147483749" r:id="rId8"/>
    <p:sldLayoutId id="2147483750" r:id="rId9"/>
    <p:sldLayoutId id="2147483751" r:id="rId10"/>
    <p:sldLayoutId id="2147483752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kern="1200" cap="all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anose="020B0502020104020203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anose="020B0502020104020203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anose="020B0502020104020203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anose="020B0502020104020203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anose="020B0502020104020203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anose="020B0502020104020203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anose="020B0502020104020203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anose="020B0502020104020203" pitchFamily="34" charset="0"/>
        </a:defRPr>
      </a:lvl9pPr>
    </p:titleStyle>
    <p:bodyStyle>
      <a:lvl1pPr marL="228600" indent="-228600" algn="l" rtl="0" eaLnBrk="0" fontAlgn="base" hangingPunct="0">
        <a:lnSpc>
          <a:spcPct val="120000"/>
        </a:lnSpc>
        <a:spcBef>
          <a:spcPts val="1000"/>
        </a:spcBef>
        <a:spcAft>
          <a:spcPct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A174B7-B58B-E4F4-3099-9EB262AE0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63" y="801688"/>
            <a:ext cx="8637587" cy="2541587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4400" dirty="0"/>
              <a:t>Анализ оттока клиентов и стратегия удержания 2026–2029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DDB06DC-A104-D48A-A200-44B72895B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63" y="3530600"/>
            <a:ext cx="8637587" cy="977900"/>
          </a:xfrm>
        </p:spPr>
        <p:txBody>
          <a:bodyPr rtlCol="0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dirty="0"/>
              <a:t>Ким Кирилл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86E0D8-0B4C-4FAF-7EE7-F26C9DADF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388" y="804863"/>
            <a:ext cx="9605962" cy="1058862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dirty="0"/>
              <a:t>как работает бизнес?</a:t>
            </a:r>
          </a:p>
        </p:txBody>
      </p:sp>
      <p:sp>
        <p:nvSpPr>
          <p:cNvPr id="13315" name="Объект 2">
            <a:extLst>
              <a:ext uri="{FF2B5EF4-FFF2-40B4-BE49-F238E27FC236}">
                <a16:creationId xmlns:a16="http://schemas.microsoft.com/office/drawing/2014/main" id="{1F72C59B-21F1-7119-E352-33C7AD5EA86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447800" y="2011363"/>
            <a:ext cx="9604375" cy="3448050"/>
          </a:xfrm>
        </p:spPr>
        <p:txBody>
          <a:bodyPr/>
          <a:lstStyle/>
          <a:p>
            <a:pPr eaLnBrk="1" hangingPunct="1"/>
            <a:r>
              <a:rPr lang="ru-RU" altLang="ru-RU"/>
              <a:t>Бизнес работает по подписочной модели: клиенты платят ежемесячную абонентскую плату (ARPU), а общая выручка формирует на счёт длительности жизни клиента (LTV). Чем дольше клиент остаётся, тем больше он приносит деньги.</a:t>
            </a:r>
          </a:p>
          <a:p>
            <a:pPr eaLnBrk="1" hangingPunct="1"/>
            <a:endParaRPr lang="ru-RU" altLang="ru-RU"/>
          </a:p>
          <a:p>
            <a:pPr eaLnBrk="1" hangingPunct="1"/>
            <a:r>
              <a:rPr lang="ru-RU" altLang="ru-RU"/>
              <a:t>Доход = ARPU × время жизни клиента.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921A27-E822-CA20-3AF4-5E88030B9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388" y="804863"/>
            <a:ext cx="9605962" cy="1058862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dirty="0"/>
              <a:t>Текущая ситуация: ключевые метрики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98AD34-BDAA-DA11-9720-621A1BAB6C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800" y="2011363"/>
            <a:ext cx="4645025" cy="4094162"/>
          </a:xfrm>
        </p:spPr>
        <p:txBody>
          <a:bodyPr rtlCol="0">
            <a:normAutofit fontScale="92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1600" dirty="0"/>
              <a:t>Всего клиентов: 7043</a:t>
            </a:r>
            <a:endParaRPr lang="en-US" sz="1600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ru-RU" sz="1600" dirty="0"/>
              <a:t>Покинувших клиентов: 1869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ru-RU" sz="1600" dirty="0"/>
              <a:t>Коэффициент оттока клиентов (</a:t>
            </a:r>
            <a:r>
              <a:rPr lang="en-US" sz="1600" dirty="0"/>
              <a:t>Churn Rate): 26,5</a:t>
            </a:r>
            <a:r>
              <a:rPr lang="ru-RU" sz="1600" dirty="0"/>
              <a:t>4</a:t>
            </a:r>
            <a:r>
              <a:rPr lang="en-US" sz="1600" dirty="0"/>
              <a:t>%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ru-RU" sz="1600" dirty="0"/>
              <a:t>Средний чек (</a:t>
            </a:r>
            <a:r>
              <a:rPr lang="en-US" sz="1600" dirty="0"/>
              <a:t>ARPU)</a:t>
            </a:r>
            <a:r>
              <a:rPr lang="ru-RU" sz="1600" dirty="0"/>
              <a:t>: </a:t>
            </a:r>
            <a:r>
              <a:rPr lang="en-US" sz="1600" dirty="0"/>
              <a:t>$</a:t>
            </a:r>
            <a:r>
              <a:rPr lang="ru-RU" sz="1600" dirty="0"/>
              <a:t>61,27</a:t>
            </a:r>
            <a:endParaRPr lang="en-US" sz="1600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ru-RU" sz="1600" dirty="0"/>
              <a:t>Общая прибыль от одного клиента (</a:t>
            </a:r>
            <a:r>
              <a:rPr lang="en-US" sz="1600" dirty="0"/>
              <a:t>LTV): $230,87</a:t>
            </a:r>
            <a:endParaRPr lang="ru-RU" sz="1600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ru-RU" sz="1600" dirty="0"/>
              <a:t>Вывод: 88,55% ушедших клиентов — на помесячных контрактах. 45,29% ушедших платили через Electronic </a:t>
            </a:r>
            <a:r>
              <a:rPr lang="en-US" sz="1600" dirty="0"/>
              <a:t>check</a:t>
            </a:r>
            <a:r>
              <a:rPr lang="ru-RU" sz="1600" dirty="0"/>
              <a:t>. Клиенты уходят быстро, не успев получить ценность. Надо фокусироваться на адаптацию в первый месяц, перевод на годовые контракты и смену способа оплаты.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8F6C1F6-15A1-B314-3A7B-305A7446EA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3500" y="2017713"/>
            <a:ext cx="4645025" cy="3441700"/>
          </a:xfrm>
        </p:spPr>
        <p:txBody>
          <a:bodyPr rtlCol="0">
            <a:normAutofit fontScale="92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ru-RU" dirty="0"/>
          </a:p>
        </p:txBody>
      </p:sp>
      <p:pic>
        <p:nvPicPr>
          <p:cNvPr id="14341" name="Рисунок 5">
            <a:extLst>
              <a:ext uri="{FF2B5EF4-FFF2-40B4-BE49-F238E27FC236}">
                <a16:creationId xmlns:a16="http://schemas.microsoft.com/office/drawing/2014/main" id="{8D89A8B1-6B20-5E51-5122-BB36F36EC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514850"/>
            <a:ext cx="5129213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Рисунок 6">
            <a:extLst>
              <a:ext uri="{FF2B5EF4-FFF2-40B4-BE49-F238E27FC236}">
                <a16:creationId xmlns:a16="http://schemas.microsoft.com/office/drawing/2014/main" id="{3CC5A60F-F0E6-7964-870D-31DADFCCC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175" y="1911350"/>
            <a:ext cx="4351338" cy="260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A265A5-0263-2FD9-C0C0-829CA1253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804863"/>
            <a:ext cx="9607550" cy="1055687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dirty="0"/>
              <a:t>Ключевые проблемы и точки роста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28CD74-DCAE-9863-8E50-4BF0AFE8C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800" y="1449388"/>
            <a:ext cx="4645025" cy="801687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Проблемы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2E3D6D7-47C5-98B0-BE49-C612B1EB30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7800" y="2154238"/>
            <a:ext cx="4645025" cy="2644775"/>
          </a:xfrm>
        </p:spPr>
        <p:txBody>
          <a:bodyPr rtlCol="0">
            <a:normAutofit fontScale="85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Высокий </a:t>
            </a:r>
            <a:r>
              <a:rPr lang="ru-RU" dirty="0" err="1"/>
              <a:t>churn</a:t>
            </a:r>
            <a:r>
              <a:rPr lang="ru-RU" dirty="0"/>
              <a:t> (26,54%), особенно среди клиентов с помесячным контрактом (88,55%).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45,29% ушедших платили через Electronic Check.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Основная причина ухода: конкуренты.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Клиенты без Online Security уходят в 3 раза чаще.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FF0DE7A-A7B3-9310-2305-C6771985C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0325" y="1449388"/>
            <a:ext cx="4645025" cy="801687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Точки роста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E5978FA-F2C5-FBA9-74E8-029A8A57B3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5563" y="2155825"/>
            <a:ext cx="4645025" cy="2636838"/>
          </a:xfrm>
        </p:spPr>
        <p:txBody>
          <a:bodyPr rtlCol="0">
            <a:normAutofit fontScale="85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Запустить акцию «Скидка 15% при переходе с помесячного на годовой тариф».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Акция «Кэшбек 5% на счёт при подключении автоплатежа с карты».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Бесплатный месяц Online Security для новых клиентов </a:t>
            </a:r>
            <a:r>
              <a:rPr lang="en-US" dirty="0"/>
              <a:t>Fiber optic </a:t>
            </a:r>
            <a:r>
              <a:rPr lang="ru-RU" dirty="0"/>
              <a:t>с </a:t>
            </a:r>
            <a:r>
              <a:rPr lang="ru-RU" dirty="0" err="1"/>
              <a:t>автопродлением</a:t>
            </a:r>
            <a:r>
              <a:rPr lang="ru-RU" dirty="0"/>
              <a:t>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Внедрить еженедельный мониторинг клиентов с </a:t>
            </a:r>
            <a:r>
              <a:rPr lang="ru-RU" dirty="0" err="1"/>
              <a:t>Churn</a:t>
            </a:r>
            <a:r>
              <a:rPr lang="ru-RU" dirty="0"/>
              <a:t> </a:t>
            </a:r>
            <a:r>
              <a:rPr lang="ru-RU" dirty="0" err="1"/>
              <a:t>Score</a:t>
            </a:r>
            <a:r>
              <a:rPr lang="ru-RU" dirty="0"/>
              <a:t> &gt; 80.</a:t>
            </a:r>
          </a:p>
        </p:txBody>
      </p:sp>
      <p:pic>
        <p:nvPicPr>
          <p:cNvPr id="15367" name="Рисунок 7">
            <a:extLst>
              <a:ext uri="{FF2B5EF4-FFF2-40B4-BE49-F238E27FC236}">
                <a16:creationId xmlns:a16="http://schemas.microsoft.com/office/drawing/2014/main" id="{826D7412-5BCB-FC54-62D1-F90AF59BA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02175"/>
            <a:ext cx="4652963" cy="21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8" name="Рисунок 9">
            <a:extLst>
              <a:ext uri="{FF2B5EF4-FFF2-40B4-BE49-F238E27FC236}">
                <a16:creationId xmlns:a16="http://schemas.microsoft.com/office/drawing/2014/main" id="{ADBF1D0B-A666-0F2E-AB43-E7A7810975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5700" y="4702175"/>
            <a:ext cx="7226300" cy="21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E4A408-1229-7365-4399-FD40718A9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dirty="0"/>
              <a:t>Стратегия развития на 3 года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26E8846-4EF1-941D-6B39-B6B5BF7F0F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50975" y="1328738"/>
          <a:ext cx="9604375" cy="229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1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1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1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1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994">
                <a:tc>
                  <a:txBody>
                    <a:bodyPr/>
                    <a:lstStyle/>
                    <a:p>
                      <a:pPr algn="ctr"/>
                      <a:endParaRPr lang="ru-RU" sz="1800" dirty="0"/>
                    </a:p>
                  </a:txBody>
                  <a:tcPr marT="45739" marB="457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Год 1</a:t>
                      </a:r>
                    </a:p>
                  </a:txBody>
                  <a:tcPr marT="45739" marB="457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Год 2</a:t>
                      </a:r>
                    </a:p>
                  </a:txBody>
                  <a:tcPr marT="45739" marB="457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Год 3</a:t>
                      </a:r>
                    </a:p>
                  </a:txBody>
                  <a:tcPr marT="45739" marB="457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94">
                <a:tc>
                  <a:txBody>
                    <a:bodyPr/>
                    <a:lstStyle/>
                    <a:p>
                      <a:r>
                        <a:rPr lang="ru-RU" sz="1800" dirty="0"/>
                        <a:t>Цель по </a:t>
                      </a:r>
                      <a:r>
                        <a:rPr lang="en-US" sz="1800" dirty="0"/>
                        <a:t>Churn Rate</a:t>
                      </a:r>
                      <a:endParaRPr lang="ru-RU" sz="1800" dirty="0"/>
                    </a:p>
                  </a:txBody>
                  <a:tcPr marT="45739" marB="457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&lt;</a:t>
                      </a:r>
                      <a:r>
                        <a:rPr lang="ru-RU" sz="1800" dirty="0"/>
                        <a:t>22%</a:t>
                      </a:r>
                    </a:p>
                  </a:txBody>
                  <a:tcPr marT="45739" marB="45739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&lt;</a:t>
                      </a:r>
                      <a:r>
                        <a:rPr lang="ru-RU" sz="1800" dirty="0"/>
                        <a:t>18%</a:t>
                      </a:r>
                    </a:p>
                  </a:txBody>
                  <a:tcPr marT="45739" marB="45739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&lt;</a:t>
                      </a:r>
                      <a:r>
                        <a:rPr lang="ru-RU" sz="1800" dirty="0"/>
                        <a:t>14%</a:t>
                      </a:r>
                    </a:p>
                  </a:txBody>
                  <a:tcPr marT="45739" marB="457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7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/>
                        <a:t>Действия</a:t>
                      </a:r>
                    </a:p>
                  </a:txBody>
                  <a:tcPr marT="45739" marB="45739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/>
                        <a:t>Изучить конкурентов, Акция на автоплатёж, Акция на услуги</a:t>
                      </a:r>
                    </a:p>
                  </a:txBody>
                  <a:tcPr marT="45739" marB="457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Скидку на годовой контракт</a:t>
                      </a:r>
                    </a:p>
                  </a:txBody>
                  <a:tcPr marT="45739" marB="457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Провести A/B-тестирование всех акций удержания</a:t>
                      </a:r>
                    </a:p>
                  </a:txBody>
                  <a:tcPr marT="45739" marB="457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3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/>
                        <a:t>Результат</a:t>
                      </a:r>
                    </a:p>
                  </a:txBody>
                  <a:tcPr marT="45739" marB="45739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/>
                        <a:t>Сохранить выручку</a:t>
                      </a:r>
                    </a:p>
                  </a:txBody>
                  <a:tcPr marT="45739" marB="457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Вырастить </a:t>
                      </a:r>
                      <a:r>
                        <a:rPr lang="en-US" sz="1800" dirty="0"/>
                        <a:t>LTV</a:t>
                      </a:r>
                      <a:endParaRPr lang="ru-RU" sz="1800" dirty="0"/>
                    </a:p>
                  </a:txBody>
                  <a:tcPr marT="45739" marB="457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Стать лидером по всем штатам</a:t>
                      </a:r>
                    </a:p>
                  </a:txBody>
                  <a:tcPr marT="45739" marB="457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414" name="Объект 3">
            <a:extLst>
              <a:ext uri="{FF2B5EF4-FFF2-40B4-BE49-F238E27FC236}">
                <a16:creationId xmlns:a16="http://schemas.microsoft.com/office/drawing/2014/main" id="{32901A29-71C9-D96C-D07F-848C15566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0975" y="3625850"/>
            <a:ext cx="9604375" cy="264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6858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defTabSz="914400" eaLnBrk="1" hangingPunct="1"/>
            <a:r>
              <a:rPr lang="ru-RU" altLang="ru-RU" sz="1900"/>
              <a:t>Снижение churn на 5% даст больший эффект, чем рост привлечения на 20%, потому что удержание увеличивает LTV и снижает необходимость в постоянных затратах на новых клиентов. </a:t>
            </a:r>
          </a:p>
          <a:p>
            <a:pPr defTabSz="914400" eaLnBrk="1" hangingPunct="1"/>
            <a:r>
              <a:rPr lang="ru-RU" altLang="ru-RU" sz="1900"/>
              <a:t>Скидки — только для клиентов с высоким риском churn.</a:t>
            </a:r>
          </a:p>
          <a:p>
            <a:pPr defTabSz="914400" eaLnBrk="1" hangingPunct="1"/>
            <a:r>
              <a:rPr lang="ru-RU" altLang="ru-RU" sz="1900"/>
              <a:t>Использовать Upsell сервис, потому что это одновременно: увеличивает ARPU, снижает churn, даёт двойной эффект на прибыль.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FCFA9C-B214-EE97-8DB3-75CC20071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dirty="0"/>
              <a:t>Дашборд</a:t>
            </a:r>
          </a:p>
        </p:txBody>
      </p:sp>
      <p:pic>
        <p:nvPicPr>
          <p:cNvPr id="17411" name="Объект 8">
            <a:extLst>
              <a:ext uri="{FF2B5EF4-FFF2-40B4-BE49-F238E27FC236}">
                <a16:creationId xmlns:a16="http://schemas.microsoft.com/office/drawing/2014/main" id="{193AB5DC-071A-ECE1-E262-DF949CEDD11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1975" y="1427163"/>
            <a:ext cx="11068050" cy="5430837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Галерея">
  <a:themeElements>
    <a:clrScheme name="Галерея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Галерея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алерея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341</TotalTime>
  <Words>357</Words>
  <Application>Microsoft Office PowerPoint</Application>
  <PresentationFormat>Широкоэкранный</PresentationFormat>
  <Paragraphs>44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Gill Sans MT</vt:lpstr>
      <vt:lpstr>Arial</vt:lpstr>
      <vt:lpstr>Calibri</vt:lpstr>
      <vt:lpstr>Галерея</vt:lpstr>
      <vt:lpstr>Анализ оттока клиентов и стратегия удержания 2026–2029</vt:lpstr>
      <vt:lpstr>как работает бизнес?</vt:lpstr>
      <vt:lpstr>Текущая ситуация: ключевые метрики</vt:lpstr>
      <vt:lpstr>Ключевые проблемы и точки роста</vt:lpstr>
      <vt:lpstr>Стратегия развития на 3 года</vt:lpstr>
      <vt:lpstr>Дашборд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Кирилл Ким</dc:creator>
  <cp:lastModifiedBy>Кирилл Ким</cp:lastModifiedBy>
  <cp:revision>21</cp:revision>
  <dcterms:created xsi:type="dcterms:W3CDTF">2026-04-11T09:53:40Z</dcterms:created>
  <dcterms:modified xsi:type="dcterms:W3CDTF">2026-04-11T15:55:03Z</dcterms:modified>
</cp:coreProperties>
</file>